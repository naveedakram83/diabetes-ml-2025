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685621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52697" y="762000"/>
            <a:ext cx="2193989" cy="5334001"/>
          </a:xfrm>
          <a:prstGeom prst="rect">
            <a:avLst/>
          </a:prstGeom>
          <a:solidFill>
            <a:srgbClr val="C3C3C3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86" y="1298448"/>
            <a:ext cx="5486400" cy="3255264"/>
          </a:xfrm>
        </p:spPr>
        <p:txBody>
          <a:bodyPr anchor="b">
            <a:normAutofit/>
          </a:bodyPr>
          <a:lstStyle>
            <a:lvl1pPr algn="l">
              <a:defRPr sz="54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11" y="4670246"/>
            <a:ext cx="54864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21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7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0934" y="1298448"/>
            <a:ext cx="5486400" cy="3255264"/>
          </a:xfrm>
        </p:spPr>
        <p:txBody>
          <a:bodyPr anchor="b">
            <a:normAutofit/>
          </a:bodyPr>
          <a:lstStyle>
            <a:lvl1pPr>
              <a:defRPr sz="54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4650" y="4672584"/>
            <a:ext cx="54864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0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10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0934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63590" y="868680"/>
            <a:ext cx="2606040" cy="512064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0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0934" y="1023586"/>
            <a:ext cx="260604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00934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63847" y="1023587"/>
            <a:ext cx="260604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63847" y="1930936"/>
            <a:ext cx="2606040" cy="4023360"/>
          </a:xfrm>
        </p:spPr>
        <p:txBody>
          <a:bodyPr/>
          <a:lstStyle>
            <a:lvl1pPr>
              <a:defRPr sz="19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37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33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0934" y="868680"/>
            <a:ext cx="54864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37560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6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" y="1143000"/>
            <a:ext cx="2125980" cy="21945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77983" y="767419"/>
            <a:ext cx="6086423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" y="3340602"/>
            <a:ext cx="2125980" cy="256032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5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624326" y="6356351"/>
            <a:ext cx="44336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86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20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5750" y="990600"/>
            <a:ext cx="211455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0934" y="868680"/>
            <a:ext cx="54864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7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2582693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9689" y="1123838"/>
            <a:ext cx="221061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8861898" y="758952"/>
            <a:ext cx="288036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01951" y="864108"/>
            <a:ext cx="54864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849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01951" y="6356351"/>
            <a:ext cx="4433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75602" y="6356351"/>
            <a:ext cx="11481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28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19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3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Diabetes Prediction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1951" y="864108"/>
            <a:ext cx="5486400" cy="1752632"/>
          </a:xfrm>
        </p:spPr>
        <p:txBody>
          <a:bodyPr>
            <a:normAutofit/>
          </a:bodyPr>
          <a:lstStyle/>
          <a:p>
            <a:r>
              <a:rPr lang="en-US" sz="2600" b="1" dirty="0"/>
              <a:t>University of  West London</a:t>
            </a:r>
          </a:p>
          <a:p>
            <a:r>
              <a:rPr lang="en-US" sz="2600" b="1" dirty="0"/>
              <a:t>Group Project</a:t>
            </a:r>
          </a:p>
          <a:p>
            <a:r>
              <a:rPr lang="en-US" sz="2600" dirty="0"/>
              <a:t>Module | Machine Learning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B93CE24-8DE7-B602-9BE1-ED8D92C4AF61}"/>
              </a:ext>
            </a:extLst>
          </p:cNvPr>
          <p:cNvSpPr txBox="1">
            <a:spLocks/>
          </p:cNvSpPr>
          <p:nvPr/>
        </p:nvSpPr>
        <p:spPr>
          <a:xfrm>
            <a:off x="2901951" y="2519463"/>
            <a:ext cx="5486400" cy="2788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19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7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3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Group Members</a:t>
            </a:r>
          </a:p>
          <a:p>
            <a:r>
              <a:rPr lang="en-US" dirty="0"/>
              <a:t>Izhar ul Islam Khan 	34150038</a:t>
            </a:r>
          </a:p>
          <a:p>
            <a:r>
              <a:rPr lang="en-US" dirty="0"/>
              <a:t>Naveed Akram 		34150039</a:t>
            </a:r>
          </a:p>
          <a:p>
            <a:r>
              <a:rPr lang="en-US" dirty="0"/>
              <a:t>Subhan		21519460 </a:t>
            </a:r>
          </a:p>
          <a:p>
            <a:r>
              <a:rPr lang="en-US" dirty="0"/>
              <a:t>Haseeb		34150055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Problem Statement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t>Early prediction of diabetes helps reduce long‑term complications.</a:t>
            </a:r>
          </a:p>
          <a:p>
            <a:r>
              <a:t>Goal: Build ML models to classify patients as diabetic or non‑diabetic.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Dataset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t>• Cleaned dataset with engineered features</a:t>
            </a:r>
          </a:p>
          <a:p>
            <a:r>
              <a:t>• AgeGroup &amp; BMIGroup added</a:t>
            </a:r>
          </a:p>
          <a:p>
            <a:r>
              <a:t>• Encoded categorical variables</a:t>
            </a:r>
          </a:p>
          <a:p>
            <a:r>
              <a:t>• Outcome balanced at 50/50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Feature Engineering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t>• AgeGroup bins</a:t>
            </a:r>
          </a:p>
          <a:p>
            <a:r>
              <a:t>• BMIGroup bins</a:t>
            </a:r>
          </a:p>
          <a:p>
            <a:r>
              <a:t>• Variance check</a:t>
            </a:r>
          </a:p>
          <a:p>
            <a:r>
              <a:t>• Chi‑Square significance filtering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Train/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Validation/</a:t>
            </a:r>
            <a:b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Test Split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rPr dirty="0"/>
              <a:t>80/10/10 split used</a:t>
            </a:r>
          </a:p>
          <a:p>
            <a:r>
              <a:rPr dirty="0"/>
              <a:t>Stratified split ensured balanced class distribution.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Models Trained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t>• Logistic Regression</a:t>
            </a:r>
          </a:p>
          <a:p>
            <a:r>
              <a:t>• Decision Tree</a:t>
            </a:r>
          </a:p>
          <a:p>
            <a:r>
              <a:t>• SVM (RBF)</a:t>
            </a:r>
          </a:p>
          <a:p>
            <a:r>
              <a:t>• Gradient Boosting</a:t>
            </a:r>
          </a:p>
          <a:p>
            <a:r>
              <a:t>• XGBoost</a:t>
            </a:r>
          </a:p>
          <a:p>
            <a:r>
              <a:t>• LightGBM</a:t>
            </a:r>
          </a:p>
          <a:p>
            <a:r>
              <a:t>• Random Forest</a:t>
            </a:r>
          </a:p>
          <a:p>
            <a:r>
              <a:t>• HistGradientBoosting</a:t>
            </a:r>
          </a:p>
          <a:p>
            <a:r>
              <a:t>• AdaBoost</a:t>
            </a:r>
          </a:p>
          <a:p>
            <a:r>
              <a:t>• Voting Classifier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Top Model Performance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t>XGBoost &amp; HistGradientBoosting performed best.</a:t>
            </a:r>
          </a:p>
          <a:p>
            <a:r>
              <a:t>Key metrics:</a:t>
            </a:r>
          </a:p>
          <a:p>
            <a:r>
              <a:t>• High recall</a:t>
            </a:r>
          </a:p>
          <a:p>
            <a:r>
              <a:t>• Balanced precision</a:t>
            </a:r>
          </a:p>
          <a:p>
            <a:r>
              <a:t>• Strong F1 scores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Threshold Optimization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t>Tested multiple thresholds between 0.25–0.55.</a:t>
            </a:r>
          </a:p>
          <a:p>
            <a:r>
              <a:t>Goal: Improve recall without harming precision.</a:t>
            </a:r>
          </a:p>
          <a:p>
            <a:r>
              <a:t>Selected threshold based on highest F1.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Two‑Stage Model Approach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t>Stage 1: Low threshold for high sensitivity.</a:t>
            </a:r>
          </a:p>
          <a:p>
            <a:r>
              <a:t>Stage 2: False‑positive filter using XGBoost.</a:t>
            </a:r>
          </a:p>
          <a:p>
            <a:r>
              <a:t>Recall finally tuned to 100%.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Unsupervised Learning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t>• PCA dimensionality reduction</a:t>
            </a:r>
          </a:p>
          <a:p>
            <a:r>
              <a:t>• K‑Means clustering</a:t>
            </a:r>
          </a:p>
          <a:p>
            <a:r>
              <a:t>• GMM clustering</a:t>
            </a:r>
          </a:p>
          <a:p>
            <a:r>
              <a:t>• Hierarchical clustering</a:t>
            </a:r>
          </a:p>
          <a:p>
            <a:r>
              <a:t>• t‑SNE visualization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Cluster Findings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t>Clusters showed separation based on glucose, BMI, age.</a:t>
            </a:r>
          </a:p>
          <a:p>
            <a:r>
              <a:t>Diabetes prevalence varied between clusters.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Anomaly Detection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t>Isolation Forest used to detect patients with abnormal readings.</a:t>
            </a:r>
          </a:p>
          <a:p>
            <a:r>
              <a:t>Detected approx. 10% anomalies.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Key Conclusions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t>• Ensemble gradient models performed best.</a:t>
            </a:r>
          </a:p>
          <a:p>
            <a:r>
              <a:t>• Two‑stage model improved recall and precision.</a:t>
            </a:r>
          </a:p>
          <a:p>
            <a:r>
              <a:t>• Clustering provided patient segmentation insights.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Future 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t>• Hyper‑tuning with Optuna</a:t>
            </a:r>
          </a:p>
          <a:p>
            <a:r>
              <a:t>• SHAP interpretability</a:t>
            </a:r>
          </a:p>
          <a:p>
            <a:r>
              <a:t>• Deploying API endpoint</a:t>
            </a:r>
          </a:p>
          <a:p>
            <a:r>
              <a:t>• Real‑time monitoring dashboard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337" y="864108"/>
            <a:ext cx="2305435" cy="5120639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Thank You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65200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13346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921" y="864108"/>
            <a:ext cx="4433008" cy="5120640"/>
          </a:xfrm>
        </p:spPr>
        <p:txBody>
          <a:bodyPr>
            <a:normAutofit/>
          </a:bodyPr>
          <a:lstStyle/>
          <a:p>
            <a:r>
              <a:t>Questions?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62991" y="767825"/>
            <a:ext cx="381009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43</TotalTime>
  <Words>335</Words>
  <Application>Microsoft Office PowerPoint</Application>
  <PresentationFormat>On-screen Show (4:3)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Corbel</vt:lpstr>
      <vt:lpstr>Wingdings 2</vt:lpstr>
      <vt:lpstr>Frame</vt:lpstr>
      <vt:lpstr>Diabetes Prediction Project</vt:lpstr>
      <vt:lpstr>Problem Statement</vt:lpstr>
      <vt:lpstr>Dataset Overview</vt:lpstr>
      <vt:lpstr>Feature Engineering</vt:lpstr>
      <vt:lpstr>Train/ Validation/ Test Split</vt:lpstr>
      <vt:lpstr>Models Trained</vt:lpstr>
      <vt:lpstr>Top Model Performance</vt:lpstr>
      <vt:lpstr>Threshold Optimization</vt:lpstr>
      <vt:lpstr>Two‑Stage Model Approach</vt:lpstr>
      <vt:lpstr>Unsupervised Learning</vt:lpstr>
      <vt:lpstr>Cluster Findings</vt:lpstr>
      <vt:lpstr>Anomaly Detection</vt:lpstr>
      <vt:lpstr>Key Conclusions</vt:lpstr>
      <vt:lpstr>Future Work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Akram, Naveed</cp:lastModifiedBy>
  <cp:revision>33</cp:revision>
  <dcterms:created xsi:type="dcterms:W3CDTF">2013-01-27T09:14:16Z</dcterms:created>
  <dcterms:modified xsi:type="dcterms:W3CDTF">2025-12-06T16:22:21Z</dcterms:modified>
  <cp:category/>
</cp:coreProperties>
</file>