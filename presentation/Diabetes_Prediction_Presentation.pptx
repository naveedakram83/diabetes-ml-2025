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2" r:id="rId6"/>
    <p:sldId id="260" r:id="rId7"/>
    <p:sldId id="261" r:id="rId8"/>
    <p:sldId id="262" r:id="rId9"/>
    <p:sldId id="263" r:id="rId10"/>
    <p:sldId id="264" r:id="rId11"/>
    <p:sldId id="265" r:id="rId12"/>
    <p:sldId id="273" r:id="rId13"/>
    <p:sldId id="274" r:id="rId14"/>
    <p:sldId id="267" r:id="rId15"/>
    <p:sldId id="268" r:id="rId16"/>
    <p:sldId id="269" r:id="rId17"/>
    <p:sldId id="270" r:id="rId18"/>
    <p:sldId id="271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59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Diabetes Prediction Using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30945"/>
            <a:ext cx="8229600" cy="1405646"/>
          </a:xfrm>
        </p:spPr>
        <p:txBody>
          <a:bodyPr>
            <a:normAutofit fontScale="92500" lnSpcReduction="20000"/>
          </a:bodyPr>
          <a:lstStyle/>
          <a:p>
            <a:r>
              <a:rPr dirty="0"/>
              <a:t>Group Project — CP70066E</a:t>
            </a:r>
          </a:p>
          <a:p>
            <a:r>
              <a:rPr dirty="0"/>
              <a:t>University of West London (RAK Campus)</a:t>
            </a:r>
          </a:p>
          <a:p>
            <a:r>
              <a:rPr dirty="0"/>
              <a:t>Academic Year 2025–26</a:t>
            </a:r>
            <a:endParaRPr lang="en-US" dirty="0"/>
          </a:p>
          <a:p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0F90BDF-6D13-BF10-3BAA-7057E32A9A8F}"/>
              </a:ext>
            </a:extLst>
          </p:cNvPr>
          <p:cNvSpPr txBox="1">
            <a:spLocks/>
          </p:cNvSpPr>
          <p:nvPr/>
        </p:nvSpPr>
        <p:spPr>
          <a:xfrm>
            <a:off x="596496" y="3549304"/>
            <a:ext cx="5486400" cy="2788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19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7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5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3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2600" b="1" dirty="0">
                <a:solidFill>
                  <a:schemeClr val="tx1"/>
                </a:solidFill>
              </a:rPr>
              <a:t>Group Members</a:t>
            </a:r>
          </a:p>
          <a:p>
            <a:pPr>
              <a:buClr>
                <a:schemeClr val="tx1"/>
              </a:buClr>
            </a:pPr>
            <a:r>
              <a:rPr lang="en-US" dirty="0">
                <a:solidFill>
                  <a:schemeClr val="tx1"/>
                </a:solidFill>
              </a:rPr>
              <a:t>Izhar ul Islam Khan 	34150038</a:t>
            </a:r>
          </a:p>
          <a:p>
            <a:pPr>
              <a:buClr>
                <a:schemeClr val="tx1"/>
              </a:buClr>
            </a:pPr>
            <a:r>
              <a:rPr lang="en-US" dirty="0">
                <a:solidFill>
                  <a:schemeClr val="tx1"/>
                </a:solidFill>
              </a:rPr>
              <a:t>Naveed Akram 		34150039</a:t>
            </a:r>
          </a:p>
          <a:p>
            <a:pPr>
              <a:buClr>
                <a:schemeClr val="tx1"/>
              </a:buClr>
            </a:pPr>
            <a:r>
              <a:rPr lang="en-US" dirty="0">
                <a:solidFill>
                  <a:schemeClr val="tx1"/>
                </a:solidFill>
              </a:rPr>
              <a:t>Subhan		21519460 </a:t>
            </a:r>
          </a:p>
          <a:p>
            <a:pPr>
              <a:buClr>
                <a:schemeClr val="tx1"/>
              </a:buClr>
            </a:pPr>
            <a:r>
              <a:rPr lang="en-US" dirty="0">
                <a:solidFill>
                  <a:schemeClr val="tx1"/>
                </a:solidFill>
              </a:rPr>
              <a:t>Haseeb			34150055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Problem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Diabetes is widespread; early detection is essential.</a:t>
            </a:r>
          </a:p>
          <a:p>
            <a:r>
              <a:t>Machine learning can support screening by identifying risk patterns.</a:t>
            </a:r>
          </a:p>
          <a:p>
            <a:r>
              <a:t>Goal: Build reliable models for early diabetes risk estimation.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7464"/>
            <a:ext cx="8229600" cy="1143000"/>
          </a:xfrm>
        </p:spPr>
        <p:txBody>
          <a:bodyPr/>
          <a:lstStyle/>
          <a:p>
            <a:r>
              <a:rPr lang="en-US" dirty="0"/>
              <a:t>Dataset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483" y="1133271"/>
            <a:ext cx="8854602" cy="2495146"/>
          </a:xfrm>
        </p:spPr>
        <p:txBody>
          <a:bodyPr>
            <a:noAutofit/>
          </a:bodyPr>
          <a:lstStyle/>
          <a:p>
            <a:r>
              <a:rPr lang="en-US" sz="2600" dirty="0"/>
              <a:t>Dataset from UCI repository.</a:t>
            </a:r>
          </a:p>
          <a:p>
            <a:r>
              <a:rPr lang="en-US" sz="2600" dirty="0"/>
              <a:t>Includes diagnostic data of women of Pima Indian heritage.</a:t>
            </a:r>
          </a:p>
          <a:p>
            <a:r>
              <a:rPr lang="en-US" sz="2600" dirty="0"/>
              <a:t>Features: Glucose, BMI, blood pressure, insulin, age, pregnancies.</a:t>
            </a:r>
          </a:p>
          <a:p>
            <a:r>
              <a:rPr lang="en-US" sz="2600" dirty="0"/>
              <a:t>Issues: Missing values, impossible zeros, class imbalance.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515ED2-9597-5B9C-3FF7-E72F01F94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22" y="4236566"/>
            <a:ext cx="3121362" cy="25144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E81F562-27BE-9974-57C2-411267817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957" y="4378883"/>
            <a:ext cx="5120350" cy="26333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72766"/>
          </a:xfrm>
        </p:spPr>
        <p:txBody>
          <a:bodyPr/>
          <a:lstStyle/>
          <a:p>
            <a:r>
              <a:rPr dirty="0"/>
              <a:t>Key EDA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875" y="984756"/>
            <a:ext cx="8229600" cy="3470512"/>
          </a:xfrm>
        </p:spPr>
        <p:txBody>
          <a:bodyPr>
            <a:noAutofit/>
          </a:bodyPr>
          <a:lstStyle/>
          <a:p>
            <a:r>
              <a:rPr sz="3000" dirty="0"/>
              <a:t>Diabetic patients show higher glucose and BMI.</a:t>
            </a:r>
          </a:p>
          <a:p>
            <a:r>
              <a:rPr sz="3000" dirty="0"/>
              <a:t>Insulin, skin thickness, BMI contain many missing values.</a:t>
            </a:r>
          </a:p>
          <a:p>
            <a:r>
              <a:rPr sz="3000" dirty="0"/>
              <a:t>28 duplicate entries removed.</a:t>
            </a:r>
          </a:p>
          <a:p>
            <a:r>
              <a:rPr sz="3000" dirty="0"/>
              <a:t>Dataset is imbalanced (~1/3 diabetic).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6B595-9A98-E2F0-0E41-DD69BA530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401E-5235-6956-322B-2D4FC7055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72766"/>
          </a:xfrm>
        </p:spPr>
        <p:txBody>
          <a:bodyPr/>
          <a:lstStyle/>
          <a:p>
            <a:r>
              <a:rPr dirty="0"/>
              <a:t>Key EDA Insights</a:t>
            </a:r>
            <a:r>
              <a:rPr lang="en-US" dirty="0"/>
              <a:t> – Cont.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75471C-BCC3-6370-CD5C-D98879A36C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1587"/>
            <a:ext cx="5273207" cy="41369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7A8AA6-24B7-F982-592D-8D9372CBF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3599" y="1271587"/>
            <a:ext cx="3960401" cy="290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828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 &amp;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901757"/>
          </a:xfrm>
        </p:spPr>
        <p:txBody>
          <a:bodyPr>
            <a:normAutofit fontScale="70000" lnSpcReduction="20000"/>
          </a:bodyPr>
          <a:lstStyle/>
          <a:p>
            <a:r>
              <a:rPr dirty="0"/>
              <a:t>Median imputation for missing values.</a:t>
            </a:r>
          </a:p>
          <a:p>
            <a:r>
              <a:rPr dirty="0"/>
              <a:t>Added quality-flag features.</a:t>
            </a:r>
          </a:p>
          <a:p>
            <a:r>
              <a:rPr dirty="0"/>
              <a:t>Categorical → numerical conversions.</a:t>
            </a:r>
          </a:p>
          <a:p>
            <a:r>
              <a:rPr dirty="0"/>
              <a:t>SMOTE used to handle imbalance.</a:t>
            </a:r>
          </a:p>
          <a:p>
            <a:r>
              <a:rPr dirty="0"/>
              <a:t>Engineered features: BMI category, glucose risk groups, HOMA-IR.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967349-EB02-148D-4E92-DADE1661C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6433" y="3762780"/>
            <a:ext cx="4319082" cy="28714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687749"/>
          </a:xfrm>
        </p:spPr>
        <p:txBody>
          <a:bodyPr>
            <a:normAutofit fontScale="85000" lnSpcReduction="20000"/>
          </a:bodyPr>
          <a:lstStyle/>
          <a:p>
            <a:r>
              <a:rPr dirty="0"/>
              <a:t>HOMA-IR: Insulin resistance indicator.</a:t>
            </a:r>
          </a:p>
          <a:p>
            <a:r>
              <a:rPr dirty="0"/>
              <a:t>Glucose risk levels.</a:t>
            </a:r>
          </a:p>
          <a:p>
            <a:r>
              <a:rPr dirty="0"/>
              <a:t>BMI categories.</a:t>
            </a:r>
          </a:p>
          <a:p>
            <a:r>
              <a:rPr dirty="0"/>
              <a:t>Combined metabolic indicators.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921211-E8C3-F222-CDE2-754A10109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601" y="3748087"/>
            <a:ext cx="5429250" cy="30194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Train / Validation / Test 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609928"/>
          </a:xfrm>
        </p:spPr>
        <p:txBody>
          <a:bodyPr>
            <a:noAutofit/>
          </a:bodyPr>
          <a:lstStyle/>
          <a:p>
            <a:r>
              <a:rPr lang="en-US" sz="2400" dirty="0"/>
              <a:t>Dataset was split into training, validation, and testing subsets</a:t>
            </a:r>
          </a:p>
          <a:p>
            <a:r>
              <a:rPr lang="en-US" sz="2400" dirty="0"/>
              <a:t>Ensures fair evaluation and prevents overfitting</a:t>
            </a:r>
          </a:p>
          <a:p>
            <a:r>
              <a:rPr lang="en-US" sz="2400" dirty="0"/>
              <a:t>Validation used for tuning; test set used for final performance check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A376852-128F-488D-E765-8F81749E5A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837" y="3925111"/>
            <a:ext cx="7172325" cy="15716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Models Evaluated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Logistic Regression</a:t>
            </a:r>
            <a:endParaRPr lang="en-US" dirty="0"/>
          </a:p>
          <a:p>
            <a:r>
              <a:rPr lang="en-AE" dirty="0"/>
              <a:t>Decision Trees</a:t>
            </a:r>
          </a:p>
          <a:p>
            <a:r>
              <a:rPr lang="en-US" dirty="0"/>
              <a:t>SVM</a:t>
            </a:r>
          </a:p>
          <a:p>
            <a:r>
              <a:rPr lang="en-US" dirty="0"/>
              <a:t>Random Forest</a:t>
            </a:r>
            <a:endParaRPr lang="en-AE" dirty="0"/>
          </a:p>
          <a:p>
            <a:r>
              <a:rPr lang="en-AE" dirty="0"/>
              <a:t>Voting Classifier</a:t>
            </a:r>
          </a:p>
          <a:p>
            <a:r>
              <a:rPr lang="en-US" dirty="0"/>
              <a:t>AdaBoost</a:t>
            </a:r>
            <a:endParaRPr dirty="0"/>
          </a:p>
          <a:p>
            <a:r>
              <a:rPr dirty="0"/>
              <a:t>HistGradientBoosting</a:t>
            </a:r>
          </a:p>
          <a:p>
            <a:r>
              <a:rPr dirty="0" err="1"/>
              <a:t>XGBoost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7B87E8-0C5B-A87F-52EC-2C6E0E5F9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115" y="1417638"/>
            <a:ext cx="2950433" cy="45259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Compared models using accuracy, precision, recall, and F1-score</a:t>
            </a:r>
          </a:p>
          <a:p>
            <a:r>
              <a:rPr lang="en-US" dirty="0"/>
              <a:t>Recall prioritized due to medical risk of false negatives</a:t>
            </a:r>
          </a:p>
          <a:p>
            <a:r>
              <a:rPr lang="en-US" dirty="0"/>
              <a:t>Confusion matrix used to interpret error types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7C2ACC-D8DE-15FC-BB3E-6289648BA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689" y="3733766"/>
            <a:ext cx="2785308" cy="27231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Threshold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65961"/>
          </a:xfrm>
        </p:spPr>
        <p:txBody>
          <a:bodyPr>
            <a:noAutofit/>
          </a:bodyPr>
          <a:lstStyle/>
          <a:p>
            <a:r>
              <a:rPr lang="en-US" sz="2200" dirty="0"/>
              <a:t>Default classification threshold is 0.5</a:t>
            </a:r>
          </a:p>
          <a:p>
            <a:r>
              <a:rPr lang="en-US" sz="2200" dirty="0"/>
              <a:t>But in medical screening, false negatives are dangerous</a:t>
            </a:r>
          </a:p>
          <a:p>
            <a:r>
              <a:rPr lang="en-US" sz="2200" dirty="0"/>
              <a:t>Lowering the threshold increases recall (catch more positive cases)</a:t>
            </a:r>
          </a:p>
          <a:p>
            <a:r>
              <a:rPr lang="en-US" sz="2200" dirty="0"/>
              <a:t>Trade-off: higher recall → lower precision (more false positives)</a:t>
            </a:r>
          </a:p>
          <a:p>
            <a:r>
              <a:rPr lang="en-US" sz="2400" dirty="0"/>
              <a:t>Final threshold chosen based on maximizing recall while keeping precision acceptable</a:t>
            </a:r>
          </a:p>
          <a:p>
            <a:endParaRPr lang="en-US" sz="2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4E6C70-8DB8-002E-89C4-3A7EFF43D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390" y="3822970"/>
            <a:ext cx="3856409" cy="29103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C05DE-57D8-77BC-190D-3B555FDC6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E833-8AF1-B4D6-F8DC-0DD1608B1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Comparison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76D7FD-B976-A4CB-AA8F-102BB9EAC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80" y="2726790"/>
            <a:ext cx="7442200" cy="40077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5E8E0A-25C8-1EEE-FE8A-58420859C088}"/>
              </a:ext>
            </a:extLst>
          </p:cNvPr>
          <p:cNvSpPr txBox="1"/>
          <p:nvPr/>
        </p:nvSpPr>
        <p:spPr>
          <a:xfrm>
            <a:off x="843280" y="1417638"/>
            <a:ext cx="711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compared several models including Random Forest, </a:t>
            </a:r>
            <a:r>
              <a:rPr lang="en-US" dirty="0" err="1"/>
              <a:t>LightGBM</a:t>
            </a:r>
            <a:r>
              <a:rPr lang="en-US" dirty="0"/>
              <a:t>, HistGradientBoosting, and an ensemble Voting Classifier.</a:t>
            </a:r>
            <a:br>
              <a:rPr lang="en-US" dirty="0"/>
            </a:br>
            <a:r>
              <a:rPr lang="en-US" dirty="0"/>
              <a:t>Random Forest achieved the best balance across accuracy, recall, and F1.</a:t>
            </a:r>
          </a:p>
        </p:txBody>
      </p:sp>
    </p:spTree>
    <p:extLst>
      <p:ext uri="{BB962C8B-B14F-4D97-AF65-F5344CB8AC3E}">
        <p14:creationId xmlns:p14="http://schemas.microsoft.com/office/powerpoint/2010/main" val="14878577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6429E-9F4B-3F7B-21C4-C92F56760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A0D4E-6068-645E-1B51-3FC4F4F3F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Metrics Breakdown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4F8607-E0B3-0954-55E6-9EC0843E7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48" y="1417638"/>
            <a:ext cx="8274972" cy="5210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559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158999"/>
          </a:xfrm>
        </p:spPr>
        <p:txBody>
          <a:bodyPr>
            <a:noAutofit/>
          </a:bodyPr>
          <a:lstStyle/>
          <a:p>
            <a:r>
              <a:rPr lang="en-US" sz="2200" dirty="0"/>
              <a:t>We experimented with advanced optimization methods, including Selective Retraining.</a:t>
            </a:r>
          </a:p>
          <a:p>
            <a:r>
              <a:rPr lang="en-US" sz="2200" dirty="0"/>
              <a:t>These methods did not improve performance on our dataset due to data size, noise, and feature variability.</a:t>
            </a:r>
          </a:p>
          <a:p>
            <a:r>
              <a:rPr lang="en-US" sz="2200" dirty="0"/>
              <a:t>We removed this step from the final pipeline to keep the model simpler, more stable, and easier to interpret.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C1C46F-F07C-2BF3-AE08-36FA51767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49" y="4096765"/>
            <a:ext cx="2743200" cy="2809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9942C9-3E8A-1A04-944E-A3C2B2E48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7882" y="4048125"/>
            <a:ext cx="1700646" cy="26445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16D198B-BFA1-BF45-E1AD-81373639E3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845" y="4022417"/>
            <a:ext cx="3252686" cy="2695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Ethical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Dataset represents only one demographic group.</a:t>
            </a:r>
          </a:p>
          <a:p>
            <a:r>
              <a:rPr dirty="0"/>
              <a:t>Risk of bias and uneven predictions.</a:t>
            </a:r>
          </a:p>
          <a:p>
            <a:r>
              <a:rPr dirty="0"/>
              <a:t>False negatives can delay treatment.</a:t>
            </a:r>
          </a:p>
          <a:p>
            <a:r>
              <a:rPr dirty="0"/>
              <a:t>Transparency is important for trust.</a:t>
            </a:r>
          </a:p>
          <a:p>
            <a:r>
              <a:rPr dirty="0"/>
              <a:t>Model should support—not replace—clinicians.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Best models achieved strong recall and balanced F1.</a:t>
            </a:r>
          </a:p>
          <a:p>
            <a:r>
              <a:t>Feature engineering and cleaning improved results significantly.</a:t>
            </a:r>
          </a:p>
          <a:p>
            <a:r>
              <a:t>Threshold tuning made the model more clinically useful.</a:t>
            </a:r>
          </a:p>
          <a:p>
            <a:r>
              <a:t>Unsupervised methods helped uncover hidden patterns.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more diverse datasets.</a:t>
            </a:r>
          </a:p>
          <a:p>
            <a:r>
              <a:t>Incorporate SHAP for explainability.</a:t>
            </a:r>
          </a:p>
          <a:p>
            <a:r>
              <a:t>Clinical validation with healthcare professionals.</a:t>
            </a:r>
          </a:p>
          <a:p>
            <a:r>
              <a:t>Deploy models in controlled environments for testing.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131</TotalTime>
  <Words>537</Words>
  <Application>Microsoft Office PowerPoint</Application>
  <PresentationFormat>On-screen Show (4:3)</PresentationFormat>
  <Paragraphs>83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Diabetes Prediction Using Machine Learning</vt:lpstr>
      <vt:lpstr>Problem &amp; Motivation</vt:lpstr>
      <vt:lpstr>Dataset Background</vt:lpstr>
      <vt:lpstr>Key EDA Insights</vt:lpstr>
      <vt:lpstr>Key EDA Insights – Cont.</vt:lpstr>
      <vt:lpstr>Data Cleaning &amp; Preparation</vt:lpstr>
      <vt:lpstr>Feature Engineering</vt:lpstr>
      <vt:lpstr>Train / Validation / Test Split</vt:lpstr>
      <vt:lpstr>Models Evaluated</vt:lpstr>
      <vt:lpstr>Evaluation Metrics</vt:lpstr>
      <vt:lpstr>Threshold Tuning</vt:lpstr>
      <vt:lpstr>Model Performance Comparison</vt:lpstr>
      <vt:lpstr>Detailed Metrics Breakdown</vt:lpstr>
      <vt:lpstr>Unsupervised Learning</vt:lpstr>
      <vt:lpstr>Ethical Considerations</vt:lpstr>
      <vt:lpstr>Conclusions</vt:lpstr>
      <vt:lpstr>Future Work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Akram, Naveed</cp:lastModifiedBy>
  <cp:revision>76</cp:revision>
  <dcterms:created xsi:type="dcterms:W3CDTF">2013-01-27T09:14:16Z</dcterms:created>
  <dcterms:modified xsi:type="dcterms:W3CDTF">2025-12-11T19:35:06Z</dcterms:modified>
  <cp:category/>
</cp:coreProperties>
</file>