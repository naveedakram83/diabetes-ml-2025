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72" r:id="rId6"/>
    <p:sldId id="277" r:id="rId7"/>
    <p:sldId id="275" r:id="rId8"/>
    <p:sldId id="276" r:id="rId9"/>
    <p:sldId id="279" r:id="rId10"/>
    <p:sldId id="260" r:id="rId11"/>
    <p:sldId id="261" r:id="rId12"/>
    <p:sldId id="262" r:id="rId13"/>
    <p:sldId id="263" r:id="rId14"/>
    <p:sldId id="264" r:id="rId15"/>
    <p:sldId id="273" r:id="rId16"/>
    <p:sldId id="280" r:id="rId17"/>
    <p:sldId id="281" r:id="rId18"/>
    <p:sldId id="274" r:id="rId19"/>
    <p:sldId id="282" r:id="rId20"/>
    <p:sldId id="267" r:id="rId21"/>
    <p:sldId id="268" r:id="rId22"/>
    <p:sldId id="269" r:id="rId23"/>
    <p:sldId id="271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F4135A-ACF9-4025-99B7-EC2273F66ADD}" v="595" dt="2025-12-13T19:58:35.928"/>
    <p1510:client id="{CA638677-AEE4-4794-9FD4-79BB8A84417D}" v="354" dt="2025-12-13T13:13:13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59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41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57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297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847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938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584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858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2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765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664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336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571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629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274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576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890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631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0285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Diabetes Prediction Using Machine Learning</a:t>
            </a:r>
            <a:endParaRPr lang="en-US" b="1" dirty="0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105" y="2137867"/>
            <a:ext cx="8229600" cy="140564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sz="2600" dirty="0"/>
              <a:t>Group Project — CP70066E</a:t>
            </a:r>
            <a:endParaRPr lang="en-US" sz="2600">
              <a:ea typeface="Calibri"/>
              <a:cs typeface="Calibri"/>
            </a:endParaRPr>
          </a:p>
          <a:p>
            <a:r>
              <a:rPr sz="2600" dirty="0"/>
              <a:t>University of West London (RAK Campus)</a:t>
            </a:r>
            <a:endParaRPr sz="2600">
              <a:ea typeface="Calibri"/>
              <a:cs typeface="Calibri"/>
            </a:endParaRPr>
          </a:p>
          <a:p>
            <a:r>
              <a:rPr sz="2600" dirty="0"/>
              <a:t>Academic Year 2025–26</a:t>
            </a:r>
            <a:endParaRPr lang="en-US" sz="2600" dirty="0"/>
          </a:p>
          <a:p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0F90BDF-6D13-BF10-3BAA-7057E32A9A8F}"/>
              </a:ext>
            </a:extLst>
          </p:cNvPr>
          <p:cNvSpPr txBox="1">
            <a:spLocks/>
          </p:cNvSpPr>
          <p:nvPr/>
        </p:nvSpPr>
        <p:spPr>
          <a:xfrm>
            <a:off x="596496" y="3549304"/>
            <a:ext cx="5486400" cy="2788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1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7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US" sz="2600" b="1" dirty="0">
                <a:solidFill>
                  <a:schemeClr val="tx1"/>
                </a:solidFill>
              </a:rPr>
              <a:t>Group Members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Izhar ul Islam Khan 	34150038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Naveed Akram 		34150039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Subhan		21519460 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Haseeb			34150055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Calibri Light"/>
                <a:cs typeface="Calibri Light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13063" y="2277151"/>
            <a:ext cx="7772400" cy="44700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32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3200" dirty="0">
              <a:ea typeface="Calibri"/>
              <a:cs typeface="Calibri"/>
            </a:endParaRPr>
          </a:p>
        </p:txBody>
      </p:sp>
      <p:sp>
        <p:nvSpPr>
          <p:cNvPr id="381" name="Content Placeholder 2">
            <a:extLst>
              <a:ext uri="{FF2B5EF4-FFF2-40B4-BE49-F238E27FC236}">
                <a16:creationId xmlns:a16="http://schemas.microsoft.com/office/drawing/2014/main" id="{89A44EB2-80E7-EA29-43E9-D5931CA9FE45}"/>
              </a:ext>
            </a:extLst>
          </p:cNvPr>
          <p:cNvSpPr txBox="1">
            <a:spLocks/>
          </p:cNvSpPr>
          <p:nvPr/>
        </p:nvSpPr>
        <p:spPr>
          <a:xfrm>
            <a:off x="357505" y="2063404"/>
            <a:ext cx="5486400" cy="2788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1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7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Clr>
                <a:srgbClr val="FFFFFF"/>
              </a:buClr>
              <a:buAutoNum type="arabicPeriod"/>
            </a:pPr>
            <a:r>
              <a:rPr lang="en-US" sz="2600" b="1" dirty="0">
                <a:solidFill>
                  <a:schemeClr val="tx1"/>
                </a:solidFill>
                <a:ea typeface="+mn-lt"/>
                <a:cs typeface="+mn-lt"/>
              </a:rPr>
              <a:t>Business &amp; Understanding</a:t>
            </a:r>
          </a:p>
          <a:p>
            <a:pPr marL="514350" indent="-514350">
              <a:buClr>
                <a:srgbClr val="FFFFFF"/>
              </a:buClr>
              <a:buAutoNum type="arabicPeriod"/>
            </a:pPr>
            <a:r>
              <a:rPr lang="en-US" sz="2600" b="1" dirty="0">
                <a:solidFill>
                  <a:schemeClr val="tx1"/>
                </a:solidFill>
                <a:ea typeface="+mn-lt"/>
                <a:cs typeface="+mn-lt"/>
              </a:rPr>
              <a:t>Data Preparation</a:t>
            </a:r>
          </a:p>
          <a:p>
            <a:pPr marL="514350" indent="-514350">
              <a:buClr>
                <a:srgbClr val="FFFFFF"/>
              </a:buClr>
              <a:buAutoNum type="arabicPeriod"/>
            </a:pPr>
            <a:r>
              <a:rPr lang="en-US" sz="2600" b="1" dirty="0">
                <a:solidFill>
                  <a:schemeClr val="tx1"/>
                </a:solidFill>
                <a:ea typeface="+mn-lt"/>
                <a:cs typeface="+mn-lt"/>
              </a:rPr>
              <a:t>Modeling</a:t>
            </a:r>
          </a:p>
          <a:p>
            <a:pPr marL="514350" indent="-514350">
              <a:buClr>
                <a:srgbClr val="FFFFFF"/>
              </a:buClr>
              <a:buAutoNum type="arabicPeriod"/>
            </a:pPr>
            <a:r>
              <a:rPr lang="en-US" sz="2600" b="1" dirty="0">
                <a:solidFill>
                  <a:schemeClr val="tx1"/>
                </a:solidFill>
                <a:ea typeface="+mn-lt"/>
                <a:cs typeface="+mn-lt"/>
              </a:rPr>
              <a:t>Evaluation</a:t>
            </a:r>
          </a:p>
          <a:p>
            <a:pPr marL="514350" indent="-514350">
              <a:buClr>
                <a:srgbClr val="FFFFFF"/>
              </a:buClr>
              <a:buAutoNum type="arabicPeriod"/>
            </a:pPr>
            <a:r>
              <a:rPr lang="en-US" sz="2600" b="1" dirty="0">
                <a:solidFill>
                  <a:schemeClr val="tx1"/>
                </a:solidFill>
                <a:ea typeface="+mn-lt"/>
                <a:cs typeface="+mn-lt"/>
              </a:rPr>
              <a:t>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464"/>
            <a:ext cx="8229600" cy="1143000"/>
          </a:xfrm>
        </p:spPr>
        <p:txBody>
          <a:bodyPr/>
          <a:lstStyle/>
          <a:p>
            <a:r>
              <a:rPr lang="en-US" b="1" dirty="0"/>
              <a:t>Dataset Background</a:t>
            </a:r>
            <a:endParaRPr lang="en-US" b="1" dirty="0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483" y="1133271"/>
            <a:ext cx="8854602" cy="24951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600" dirty="0"/>
              <a:t>Includes diagnostic data of women of Pima Indian heritage.</a:t>
            </a:r>
            <a:endParaRPr lang="en-US"/>
          </a:p>
          <a:p>
            <a:r>
              <a:rPr lang="en-US" sz="2600" dirty="0"/>
              <a:t>Features: Glucose, BMI, blood pressure, insulin, age, </a:t>
            </a:r>
            <a:r>
              <a:rPr lang="en-US" sz="2600" dirty="0" err="1"/>
              <a:t>pregnanciese</a:t>
            </a:r>
            <a:r>
              <a:rPr lang="en-US" sz="2600" dirty="0"/>
              <a:t> </a:t>
            </a:r>
            <a:r>
              <a:rPr lang="en-US" sz="2600" dirty="0" err="1"/>
              <a:t>etc</a:t>
            </a:r>
            <a:endParaRPr lang="en-US" sz="2600" dirty="0" err="1">
              <a:ea typeface="Calibri"/>
              <a:cs typeface="Calibri"/>
            </a:endParaRPr>
          </a:p>
          <a:p>
            <a:endParaRPr lang="en-US" sz="2600" dirty="0">
              <a:ea typeface="Calibri"/>
              <a:cs typeface="Calibri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0FF32A-3CC6-2414-C407-89F41794A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39" y="2673812"/>
            <a:ext cx="7917686" cy="39892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118" y="467591"/>
            <a:ext cx="8229600" cy="972766"/>
          </a:xfrm>
        </p:spPr>
        <p:txBody>
          <a:bodyPr/>
          <a:lstStyle/>
          <a:p>
            <a:r>
              <a:rPr b="1" dirty="0"/>
              <a:t>Key EDA Insights</a:t>
            </a:r>
            <a:endParaRPr lang="en-US" b="1" dirty="0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875" y="1567393"/>
            <a:ext cx="8229600" cy="517777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sz="2600" dirty="0"/>
              <a:t>Diabetic patients show higher glucose and BMI.</a:t>
            </a:r>
            <a:endParaRPr lang="en-US" sz="2600" dirty="0">
              <a:ea typeface="Calibri"/>
              <a:cs typeface="Calibri"/>
            </a:endParaRPr>
          </a:p>
          <a:p>
            <a:r>
              <a:rPr sz="2600" dirty="0"/>
              <a:t>Insulin, skin thickness, BMI contain many missing values.</a:t>
            </a:r>
            <a:endParaRPr sz="2600">
              <a:ea typeface="Calibri"/>
              <a:cs typeface="Calibri"/>
            </a:endParaRPr>
          </a:p>
          <a:p>
            <a:r>
              <a:rPr lang="en-US" sz="2600" dirty="0"/>
              <a:t>Duplicate</a:t>
            </a:r>
            <a:r>
              <a:rPr sz="2600" dirty="0"/>
              <a:t> entries.</a:t>
            </a:r>
            <a:endParaRPr sz="2600">
              <a:ea typeface="Calibri"/>
              <a:cs typeface="Calibri"/>
            </a:endParaRPr>
          </a:p>
          <a:p>
            <a:r>
              <a:rPr sz="2600" dirty="0"/>
              <a:t>Dataset is imbalanced (~1/3 diabetic).</a:t>
            </a:r>
            <a:endParaRPr sz="2600">
              <a:ea typeface="Calibri"/>
              <a:cs typeface="Calibri"/>
            </a:endParaRPr>
          </a:p>
          <a:p>
            <a:r>
              <a:rPr lang="en-US" sz="2600" dirty="0">
                <a:ea typeface="Calibri"/>
                <a:cs typeface="Calibri"/>
              </a:rPr>
              <a:t>Low number of records.</a:t>
            </a:r>
          </a:p>
          <a:p>
            <a:r>
              <a:rPr lang="en-US" sz="2600" dirty="0">
                <a:ea typeface="Calibri"/>
                <a:cs typeface="Calibri"/>
              </a:rPr>
              <a:t>Missing Features(Demographics)</a:t>
            </a:r>
          </a:p>
          <a:p>
            <a:r>
              <a:rPr lang="en-US" sz="2600" dirty="0">
                <a:ea typeface="Calibri"/>
                <a:cs typeface="Calibri"/>
              </a:rPr>
              <a:t>Data Skewness</a:t>
            </a:r>
          </a:p>
          <a:p>
            <a:r>
              <a:rPr lang="en-US" sz="2600" dirty="0">
                <a:ea typeface="Calibri"/>
                <a:cs typeface="Calibri"/>
              </a:rPr>
              <a:t>Outliers</a:t>
            </a:r>
          </a:p>
          <a:p>
            <a:endParaRPr lang="en-US" sz="26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6B595-9A98-E2F0-0E41-DD69BA53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8401E-5235-6956-322B-2D4FC7055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72766"/>
          </a:xfrm>
        </p:spPr>
        <p:txBody>
          <a:bodyPr/>
          <a:lstStyle/>
          <a:p>
            <a:r>
              <a:rPr dirty="0"/>
              <a:t>Key EDA Insights</a:t>
            </a:r>
            <a:r>
              <a:rPr lang="en-US" dirty="0"/>
              <a:t> – Cont.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E70A93-4E62-F07D-711C-64448D9A8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369" y="1844465"/>
            <a:ext cx="3121362" cy="25144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581FD1-E814-C77B-547F-BC681F914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68" y="1841309"/>
            <a:ext cx="5120350" cy="263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28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81D5C-E01B-AD43-A7D1-49A2866D1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4921C-A7DF-5BA4-E65F-27A60B7D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72766"/>
          </a:xfrm>
        </p:spPr>
        <p:txBody>
          <a:bodyPr/>
          <a:lstStyle/>
          <a:p>
            <a:r>
              <a:rPr dirty="0"/>
              <a:t>Key EDA Insights</a:t>
            </a:r>
            <a:r>
              <a:rPr lang="en-US" dirty="0"/>
              <a:t> – Cont.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8E9F02-BCE6-3A07-1DD8-C8B88FBE3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86" y="970512"/>
            <a:ext cx="8333773" cy="376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081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20C55-61DB-B8BA-0F48-CA9FC9A3D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C241-F676-D4FF-533C-A1DA8D1EA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72766"/>
          </a:xfrm>
        </p:spPr>
        <p:txBody>
          <a:bodyPr/>
          <a:lstStyle/>
          <a:p>
            <a:r>
              <a:rPr dirty="0"/>
              <a:t>Key EDA Insights</a:t>
            </a:r>
            <a:r>
              <a:rPr lang="en-US" dirty="0"/>
              <a:t> – Cont.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1D2ABC-C64B-2EB6-095F-BE2A8897D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72" y="1445207"/>
            <a:ext cx="8422836" cy="493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1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819DF-60BE-E1F0-C1FD-16AAA6447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E1924-F7B3-0797-A890-BD02695E9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72766"/>
          </a:xfrm>
        </p:spPr>
        <p:txBody>
          <a:bodyPr/>
          <a:lstStyle/>
          <a:p>
            <a:r>
              <a:rPr dirty="0"/>
              <a:t>Key EDA Insights</a:t>
            </a:r>
            <a:r>
              <a:rPr lang="en-US" dirty="0"/>
              <a:t> – Cont.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485196-365D-4377-5D79-7C2319883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32" y="846168"/>
            <a:ext cx="8324127" cy="548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629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546C9-05A6-88A3-7ED4-1A820A58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42069-D275-FE38-ED57-E5BE11AAA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72766"/>
          </a:xfrm>
        </p:spPr>
        <p:txBody>
          <a:bodyPr/>
          <a:lstStyle/>
          <a:p>
            <a:r>
              <a:rPr dirty="0"/>
              <a:t>Key EDA Insights</a:t>
            </a:r>
            <a:r>
              <a:rPr lang="en-US" dirty="0"/>
              <a:t> – Cont.</a:t>
            </a:r>
            <a:endParaRPr dirty="0"/>
          </a:p>
        </p:txBody>
      </p:sp>
      <p:pic>
        <p:nvPicPr>
          <p:cNvPr id="3" name="Picture 2" descr="A diagram of skin thickness&#10;&#10;AI-generated content may be incorrect.">
            <a:extLst>
              <a:ext uri="{FF2B5EF4-FFF2-40B4-BE49-F238E27FC236}">
                <a16:creationId xmlns:a16="http://schemas.microsoft.com/office/drawing/2014/main" id="{0D9EEEFD-7A6A-78C3-AC9D-80620539D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98" y="977612"/>
            <a:ext cx="4694959" cy="2762250"/>
          </a:xfrm>
          <a:prstGeom prst="rect">
            <a:avLst/>
          </a:prstGeom>
        </p:spPr>
      </p:pic>
      <p:pic>
        <p:nvPicPr>
          <p:cNvPr id="5" name="Picture 4" descr="A graph of insulin&#10;&#10;AI-generated content may be incorrect.">
            <a:extLst>
              <a:ext uri="{FF2B5EF4-FFF2-40B4-BE49-F238E27FC236}">
                <a16:creationId xmlns:a16="http://schemas.microsoft.com/office/drawing/2014/main" id="{58661B73-F2F2-38D9-B178-79220A6FC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98" y="3897456"/>
            <a:ext cx="4611832" cy="2762250"/>
          </a:xfrm>
          <a:prstGeom prst="rect">
            <a:avLst/>
          </a:prstGeom>
        </p:spPr>
      </p:pic>
      <p:pic>
        <p:nvPicPr>
          <p:cNvPr id="6" name="Picture 5" descr="A diagram of a box plot&#10;&#10;AI-generated content may be incorrect.">
            <a:extLst>
              <a:ext uri="{FF2B5EF4-FFF2-40B4-BE49-F238E27FC236}">
                <a16:creationId xmlns:a16="http://schemas.microsoft.com/office/drawing/2014/main" id="{296BBC84-08F7-B7B4-B89A-2D4BE6131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044" y="2359603"/>
            <a:ext cx="3884468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572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27" y="391392"/>
            <a:ext cx="7772400" cy="1456267"/>
          </a:xfrm>
        </p:spPr>
        <p:txBody>
          <a:bodyPr/>
          <a:lstStyle/>
          <a:p>
            <a:r>
              <a:rPr lang="en-US" b="1" dirty="0"/>
              <a:t>Data Cleaning &amp; Preparation</a:t>
            </a:r>
            <a:endParaRPr lang="en-US" b="1" dirty="0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27" y="1610591"/>
            <a:ext cx="8229600" cy="190175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600" dirty="0"/>
              <a:t>Mean imputation for numerical missing features.</a:t>
            </a:r>
            <a:endParaRPr lang="en-US" sz="2600">
              <a:ea typeface="Calibri"/>
              <a:cs typeface="Calibri"/>
            </a:endParaRPr>
          </a:p>
          <a:p>
            <a:r>
              <a:rPr lang="en-US" sz="2600" dirty="0"/>
              <a:t>Added quality-flag features.</a:t>
            </a:r>
            <a:endParaRPr lang="en-US" sz="2600">
              <a:ea typeface="Calibri"/>
              <a:cs typeface="Calibri"/>
            </a:endParaRPr>
          </a:p>
          <a:p>
            <a:r>
              <a:rPr lang="en-US" sz="2600" dirty="0"/>
              <a:t>Categorical → numerical conversions.</a:t>
            </a:r>
            <a:endParaRPr lang="en-US" sz="2600">
              <a:ea typeface="Calibri"/>
              <a:cs typeface="Calibri"/>
            </a:endParaRPr>
          </a:p>
          <a:p>
            <a:r>
              <a:rPr lang="en-US" sz="2600" dirty="0"/>
              <a:t>SMOTE used to handle imbalance.</a:t>
            </a:r>
            <a:endParaRPr lang="en-US" sz="2600"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967349-EB02-148D-4E92-DADE1661C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433" y="3762780"/>
            <a:ext cx="4319082" cy="28714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4500"/>
            <a:ext cx="8229600" cy="1687749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HOMA-IR: Insulin resistance indicator.</a:t>
            </a:r>
            <a:endParaRPr lang="en-US" dirty="0">
              <a:ea typeface="Calibri"/>
              <a:cs typeface="Calibri"/>
            </a:endParaRPr>
          </a:p>
          <a:p>
            <a:r>
              <a:rPr dirty="0"/>
              <a:t>Glucose risk levels.</a:t>
            </a:r>
          </a:p>
          <a:p>
            <a:r>
              <a:rPr dirty="0"/>
              <a:t>BMI categories.</a:t>
            </a:r>
          </a:p>
          <a:p>
            <a:r>
              <a:rPr dirty="0"/>
              <a:t>Combined metabolic indicators.</a:t>
            </a:r>
          </a:p>
          <a:p>
            <a:pPr>
              <a:buClr>
                <a:srgbClr val="FFFFFF"/>
              </a:buClr>
            </a:pPr>
            <a:r>
              <a:rPr lang="en-US" dirty="0">
                <a:ea typeface="Calibri" panose="020F0502020204030204"/>
                <a:cs typeface="Calibri" panose="020F0502020204030204"/>
              </a:rPr>
              <a:t>Polynomial features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464" y="339437"/>
            <a:ext cx="7772400" cy="1456267"/>
          </a:xfrm>
        </p:spPr>
        <p:txBody>
          <a:bodyPr/>
          <a:lstStyle/>
          <a:p>
            <a:r>
              <a:rPr b="1" dirty="0"/>
              <a:t>Train / Validation / Test Split</a:t>
            </a:r>
            <a:endParaRPr lang="en-US" b="1" dirty="0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336" y="1818409"/>
            <a:ext cx="8229600" cy="1609928"/>
          </a:xfrm>
        </p:spPr>
        <p:txBody>
          <a:bodyPr>
            <a:noAutofit/>
          </a:bodyPr>
          <a:lstStyle/>
          <a:p>
            <a:r>
              <a:rPr lang="en-US" sz="2600" dirty="0"/>
              <a:t>Dataset was split into training, validation, and testing subsets</a:t>
            </a:r>
            <a:endParaRPr lang="en-US" sz="2600" dirty="0">
              <a:ea typeface="Calibri"/>
              <a:cs typeface="Calibri"/>
            </a:endParaRPr>
          </a:p>
          <a:p>
            <a:r>
              <a:rPr lang="en-US" sz="2600" dirty="0"/>
              <a:t>Ensures fair evaluation and prevents overfitting</a:t>
            </a:r>
            <a:endParaRPr lang="en-US" sz="2600" dirty="0">
              <a:ea typeface="Calibri"/>
              <a:cs typeface="Calibri"/>
            </a:endParaRPr>
          </a:p>
          <a:p>
            <a:r>
              <a:rPr lang="en-US" sz="2600" dirty="0"/>
              <a:t>Validation used for tuning; test set used for final performance check</a:t>
            </a:r>
            <a:endParaRPr lang="en-US" sz="2600" dirty="0">
              <a:ea typeface="Calibri"/>
              <a:cs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A376852-128F-488D-E765-8F81749E5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73" y="4236838"/>
            <a:ext cx="7172325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Logistic Regression</a:t>
            </a:r>
            <a:endParaRPr lang="en-US" dirty="0"/>
          </a:p>
          <a:p>
            <a:r>
              <a:rPr lang="en-AE" dirty="0"/>
              <a:t>Decision Trees</a:t>
            </a:r>
          </a:p>
          <a:p>
            <a:r>
              <a:rPr lang="en-US" dirty="0"/>
              <a:t>SVM</a:t>
            </a:r>
          </a:p>
          <a:p>
            <a:r>
              <a:rPr lang="en-US" dirty="0"/>
              <a:t>Random Forest</a:t>
            </a:r>
            <a:endParaRPr lang="en-AE" dirty="0"/>
          </a:p>
          <a:p>
            <a:r>
              <a:rPr lang="en-AE" dirty="0"/>
              <a:t>Voting Classifier</a:t>
            </a:r>
          </a:p>
          <a:p>
            <a:r>
              <a:rPr lang="en-US" dirty="0"/>
              <a:t>AdaBoost</a:t>
            </a:r>
            <a:endParaRPr dirty="0"/>
          </a:p>
          <a:p>
            <a:r>
              <a:rPr dirty="0"/>
              <a:t>HistGradientBoosting</a:t>
            </a:r>
          </a:p>
          <a:p>
            <a:r>
              <a:rPr err="1"/>
              <a:t>XGBoost</a:t>
            </a:r>
            <a:endParaRPr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 err="1">
                <a:ea typeface="Calibri" panose="020F0502020204030204"/>
                <a:cs typeface="Calibri" panose="020F0502020204030204"/>
              </a:rPr>
              <a:t>GradientBoosting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Light Gradient Boosting Machine (LGBM)</a:t>
            </a:r>
          </a:p>
          <a:p>
            <a:pPr>
              <a:buClr>
                <a:srgbClr val="FFFFFF"/>
              </a:buClr>
            </a:pPr>
            <a:r>
              <a:rPr lang="en-US" dirty="0">
                <a:ea typeface="Calibri" panose="020F0502020204030204"/>
                <a:cs typeface="Calibri" panose="020F0502020204030204"/>
              </a:rPr>
              <a:t>Scaled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7B87E8-0C5B-A87F-52EC-2C6E0E5F9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115" y="1417638"/>
            <a:ext cx="2950433" cy="45259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Evaluation Metrics</a:t>
            </a:r>
            <a:endParaRPr lang="en-US" b="1" dirty="0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Compared models using accuracy, precision, recall, and F1-score</a:t>
            </a:r>
          </a:p>
          <a:p>
            <a:r>
              <a:rPr lang="en-US" dirty="0"/>
              <a:t>Recall prioritized due to medical risk of false negatives</a:t>
            </a:r>
          </a:p>
          <a:p>
            <a:r>
              <a:rPr lang="en-US" dirty="0"/>
              <a:t>Confusion matrix used to interpret error types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7C2ACC-D8DE-15FC-BB3E-6289648BA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689" y="3733766"/>
            <a:ext cx="2785308" cy="27231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C05DE-57D8-77BC-190D-3B555FDC6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BE833-8AF1-B4D6-F8DC-0DD1608B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256310"/>
            <a:ext cx="7772400" cy="1456267"/>
          </a:xfrm>
        </p:spPr>
        <p:txBody>
          <a:bodyPr/>
          <a:lstStyle/>
          <a:p>
            <a:r>
              <a:rPr lang="en-US" b="1" dirty="0"/>
              <a:t>Model Performance Comparison</a:t>
            </a:r>
            <a:endParaRPr lang="en-US" b="1">
              <a:ea typeface="Calibri Light"/>
              <a:cs typeface="Calibri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5E8E0A-25C8-1EEE-FE8A-58420859C088}"/>
              </a:ext>
            </a:extLst>
          </p:cNvPr>
          <p:cNvSpPr txBox="1"/>
          <p:nvPr/>
        </p:nvSpPr>
        <p:spPr>
          <a:xfrm>
            <a:off x="417253" y="1376074"/>
            <a:ext cx="711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compared several models including Random Forest, </a:t>
            </a:r>
            <a:r>
              <a:rPr lang="en-US" dirty="0" err="1"/>
              <a:t>LightGBM</a:t>
            </a:r>
            <a:r>
              <a:rPr lang="en-US" dirty="0"/>
              <a:t>, HistGradientBoosting, and an ensemble Voting Classifier.</a:t>
            </a:r>
            <a:br>
              <a:rPr lang="en-US" dirty="0"/>
            </a:br>
            <a:r>
              <a:rPr lang="en-US" dirty="0"/>
              <a:t>Random Forest achieved the best balance across accuracy, recall, and F1.</a:t>
            </a:r>
          </a:p>
        </p:txBody>
      </p:sp>
      <p:pic>
        <p:nvPicPr>
          <p:cNvPr id="3" name="Picture 2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1493CDE7-FC75-6CF6-2311-103353B50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6" y="2717665"/>
            <a:ext cx="8572500" cy="388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857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08196-8E86-32E5-1803-ADCD0C4BF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A603F-4ED3-A9EB-FD3E-AD68E61FD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256310"/>
            <a:ext cx="7772400" cy="1456267"/>
          </a:xfrm>
        </p:spPr>
        <p:txBody>
          <a:bodyPr/>
          <a:lstStyle/>
          <a:p>
            <a:r>
              <a:rPr lang="en-US" b="1" dirty="0"/>
              <a:t>Model Performance Comparison</a:t>
            </a:r>
            <a:endParaRPr lang="en-US" b="1">
              <a:ea typeface="Calibri Light"/>
              <a:cs typeface="Calibri Light"/>
            </a:endParaRPr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2F63E83-CE49-6570-4A2E-7C64D513D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5" y="1547195"/>
            <a:ext cx="8343901" cy="326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63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3C2AA-2F67-DFE6-4EE0-BD806DABE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6718C-0C9E-2B6F-563E-C581AD902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256310"/>
            <a:ext cx="7772400" cy="1456267"/>
          </a:xfrm>
        </p:spPr>
        <p:txBody>
          <a:bodyPr/>
          <a:lstStyle/>
          <a:p>
            <a:r>
              <a:rPr lang="en-US" b="1" dirty="0"/>
              <a:t>Model Performance Comparison</a:t>
            </a:r>
            <a:endParaRPr lang="en-US" b="1">
              <a:ea typeface="Calibri Light"/>
              <a:cs typeface="Calibri Light"/>
            </a:endParaRPr>
          </a:p>
        </p:txBody>
      </p:sp>
      <p:pic>
        <p:nvPicPr>
          <p:cNvPr id="3" name="Picture 2" descr="A graph with a line drawn on it&#10;&#10;AI-generated content may be incorrect.">
            <a:extLst>
              <a:ext uri="{FF2B5EF4-FFF2-40B4-BE49-F238E27FC236}">
                <a16:creationId xmlns:a16="http://schemas.microsoft.com/office/drawing/2014/main" id="{1B6EEC22-CC51-C726-FF02-80E120847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6" y="1411315"/>
            <a:ext cx="8717973" cy="2372824"/>
          </a:xfrm>
          <a:prstGeom prst="rect">
            <a:avLst/>
          </a:prstGeom>
        </p:spPr>
      </p:pic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D2D8E39-9F96-435A-01AE-9CEE6169D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511" y="3404322"/>
            <a:ext cx="428625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504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6429E-9F4B-3F7B-21C4-C92F56760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A0D4E-6068-645E-1B51-3FC4F4F3F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336" y="256310"/>
            <a:ext cx="7772400" cy="1456267"/>
          </a:xfrm>
        </p:spPr>
        <p:txBody>
          <a:bodyPr/>
          <a:lstStyle/>
          <a:p>
            <a:r>
              <a:rPr lang="en-US" b="1" dirty="0"/>
              <a:t>Detailed Metrics Breakdown</a:t>
            </a:r>
            <a:endParaRPr lang="en-US" b="1">
              <a:ea typeface="Calibri Light"/>
              <a:cs typeface="Calibri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45A7E9-9746-AA95-4703-C60D9871C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36" y="1384207"/>
            <a:ext cx="8541328" cy="340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559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9B9B1-4347-2B25-4A3B-3B7FED01A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F7BF6-4575-7408-89E4-0B307A712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336" y="256310"/>
            <a:ext cx="7772400" cy="1456267"/>
          </a:xfrm>
        </p:spPr>
        <p:txBody>
          <a:bodyPr/>
          <a:lstStyle/>
          <a:p>
            <a:r>
              <a:rPr lang="en-US" b="1" dirty="0"/>
              <a:t>Detailed Metrics Breakdown</a:t>
            </a:r>
            <a:endParaRPr lang="en-US" b="1">
              <a:ea typeface="Calibri Light"/>
              <a:cs typeface="Calibri Light"/>
            </a:endParaRPr>
          </a:p>
        </p:txBody>
      </p:sp>
      <p:pic>
        <p:nvPicPr>
          <p:cNvPr id="4" name="Picture 3" descr="A comparison of a graph&#10;&#10;AI-generated content may be incorrect.">
            <a:extLst>
              <a:ext uri="{FF2B5EF4-FFF2-40B4-BE49-F238E27FC236}">
                <a16:creationId xmlns:a16="http://schemas.microsoft.com/office/drawing/2014/main" id="{6E3F78AA-FBF6-E696-D12D-B33AF6E67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95" y="1820517"/>
            <a:ext cx="8323119" cy="303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096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773" y="256310"/>
            <a:ext cx="7772400" cy="1456267"/>
          </a:xfrm>
        </p:spPr>
        <p:txBody>
          <a:bodyPr/>
          <a:lstStyle/>
          <a:p>
            <a:r>
              <a:rPr b="1" dirty="0"/>
              <a:t>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58999"/>
          </a:xfrm>
        </p:spPr>
        <p:txBody>
          <a:bodyPr>
            <a:noAutofit/>
          </a:bodyPr>
          <a:lstStyle/>
          <a:p>
            <a:r>
              <a:rPr lang="en-US" sz="2200" dirty="0"/>
              <a:t>We experimented with advanced optimization methods, including Selective Retraining.</a:t>
            </a:r>
          </a:p>
          <a:p>
            <a:r>
              <a:rPr lang="en-US" sz="2200" dirty="0"/>
              <a:t>These methods did not improve performance on our dataset due to data size, noise, and feature variability.</a:t>
            </a:r>
          </a:p>
          <a:p>
            <a:r>
              <a:rPr lang="en-US" sz="2200" dirty="0"/>
              <a:t>We removed this step from the final pipeline to keep the model simpler, more stable, and easier to interpret.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C1C46F-F07C-2BF3-AE08-36FA51767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49" y="4096765"/>
            <a:ext cx="2743200" cy="2809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9942C9-3E8A-1A04-944E-A3C2B2E48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882" y="4048125"/>
            <a:ext cx="1700646" cy="26445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6D198B-BFA1-BF45-E1AD-81373639E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845" y="4022417"/>
            <a:ext cx="3252686" cy="2695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Ethical Considerations</a:t>
            </a:r>
            <a:endParaRPr lang="en-US" b="1" dirty="0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600" dirty="0"/>
              <a:t>Dataset represents only one demographic group.</a:t>
            </a:r>
            <a:endParaRPr lang="en-US" sz="2600" dirty="0">
              <a:ea typeface="Calibri"/>
              <a:cs typeface="Calibri"/>
            </a:endParaRPr>
          </a:p>
          <a:p>
            <a:r>
              <a:rPr sz="2600" dirty="0"/>
              <a:t>Risk of bias and uneven predictions.</a:t>
            </a:r>
            <a:endParaRPr sz="2600" dirty="0">
              <a:ea typeface="Calibri"/>
              <a:cs typeface="Calibri"/>
            </a:endParaRPr>
          </a:p>
          <a:p>
            <a:r>
              <a:rPr sz="2600" dirty="0"/>
              <a:t>False negatives can delay treatment.</a:t>
            </a:r>
            <a:endParaRPr sz="2600" dirty="0">
              <a:ea typeface="Calibri"/>
              <a:cs typeface="Calibri"/>
            </a:endParaRPr>
          </a:p>
          <a:p>
            <a:r>
              <a:rPr sz="2600" dirty="0"/>
              <a:t>Transparency is important for trust.</a:t>
            </a:r>
            <a:endParaRPr sz="2600" dirty="0">
              <a:ea typeface="Calibri"/>
              <a:cs typeface="Calibri"/>
            </a:endParaRPr>
          </a:p>
          <a:p>
            <a:r>
              <a:rPr sz="2600" dirty="0"/>
              <a:t>Model should </a:t>
            </a:r>
            <a:r>
              <a:rPr lang="en-US" sz="2600" dirty="0"/>
              <a:t>support not</a:t>
            </a:r>
            <a:r>
              <a:rPr sz="2600" dirty="0"/>
              <a:t> </a:t>
            </a:r>
            <a:r>
              <a:rPr lang="en-US" sz="2600" dirty="0"/>
              <a:t>replace clinicians</a:t>
            </a:r>
            <a:r>
              <a:rPr sz="2600" dirty="0"/>
              <a:t>.</a:t>
            </a:r>
            <a:endParaRPr sz="26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Conclusions</a:t>
            </a:r>
            <a:endParaRPr lang="en-US" b="1" dirty="0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600" dirty="0"/>
              <a:t>Best models achieved strong recall and balanced F1.</a:t>
            </a:r>
            <a:endParaRPr lang="en-US" sz="2600">
              <a:ea typeface="Calibri"/>
              <a:cs typeface="Calibri"/>
            </a:endParaRPr>
          </a:p>
          <a:p>
            <a:r>
              <a:rPr sz="2600" dirty="0"/>
              <a:t>Feature engineering and cleaning improved results significantly.</a:t>
            </a:r>
            <a:endParaRPr sz="2600">
              <a:ea typeface="Calibri"/>
              <a:cs typeface="Calibri"/>
            </a:endParaRPr>
          </a:p>
          <a:p>
            <a:r>
              <a:rPr sz="2600" dirty="0"/>
              <a:t>Threshold tuning made the model more clinically useful.</a:t>
            </a:r>
            <a:endParaRPr sz="2600">
              <a:ea typeface="Calibri"/>
              <a:cs typeface="Calibri"/>
            </a:endParaRPr>
          </a:p>
          <a:p>
            <a:r>
              <a:rPr sz="2600" dirty="0"/>
              <a:t>Unsupervised methods</a:t>
            </a:r>
            <a:r>
              <a:rPr lang="en-US" sz="2600" dirty="0"/>
              <a:t> identified clusters but did not improved performance metrics.</a:t>
            </a:r>
            <a:endParaRPr lang="en-US" sz="26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0691" y="2511138"/>
            <a:ext cx="7772400" cy="1456267"/>
          </a:xfrm>
        </p:spPr>
        <p:txBody>
          <a:bodyPr>
            <a:normAutofit/>
          </a:bodyPr>
          <a:lstStyle/>
          <a:p>
            <a:r>
              <a:rPr sz="6000" b="1" dirty="0"/>
              <a:t>Thank You</a:t>
            </a:r>
            <a:endParaRPr lang="en-US" sz="6000" b="1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1" y="2287541"/>
            <a:ext cx="7772400" cy="3649133"/>
          </a:xfrm>
        </p:spPr>
        <p:txBody>
          <a:bodyPr>
            <a:normAutofit/>
          </a:bodyPr>
          <a:lstStyle/>
          <a:p>
            <a:pPr marL="0" indent="0">
              <a:buClr>
                <a:srgbClr val="FFFFFF"/>
              </a:buClr>
              <a:buNone/>
            </a:pPr>
            <a:r>
              <a:rPr lang="en-US" sz="4800" b="1" dirty="0"/>
              <a:t>          </a:t>
            </a:r>
            <a:r>
              <a:rPr lang="en-US" sz="3600" b="1" dirty="0"/>
              <a:t>QUESTIONS?</a:t>
            </a:r>
            <a:endParaRPr lang="en-US" sz="3600" b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131</TotalTime>
  <Words>537</Words>
  <Application>Microsoft Office PowerPoint</Application>
  <PresentationFormat>On-screen Show (4:3)</PresentationFormat>
  <Paragraphs>83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Celestial</vt:lpstr>
      <vt:lpstr>Diabetes Prediction Using Machine Learning</vt:lpstr>
      <vt:lpstr>agenda</vt:lpstr>
      <vt:lpstr>Dataset Background</vt:lpstr>
      <vt:lpstr>Key EDA Insights</vt:lpstr>
      <vt:lpstr>Key EDA Insights – Cont.</vt:lpstr>
      <vt:lpstr>Key EDA Insights – Cont.</vt:lpstr>
      <vt:lpstr>Key EDA Insights – Cont.</vt:lpstr>
      <vt:lpstr>Key EDA Insights – Cont.</vt:lpstr>
      <vt:lpstr>Key EDA Insights – Cont.</vt:lpstr>
      <vt:lpstr>Data Cleaning &amp; Preparation</vt:lpstr>
      <vt:lpstr>Feature Engineering</vt:lpstr>
      <vt:lpstr>Train / Validation / Test Split</vt:lpstr>
      <vt:lpstr>Models Evaluated</vt:lpstr>
      <vt:lpstr>Evaluation Metrics</vt:lpstr>
      <vt:lpstr>Model Performance Comparison</vt:lpstr>
      <vt:lpstr>Model Performance Comparison</vt:lpstr>
      <vt:lpstr>Model Performance Comparison</vt:lpstr>
      <vt:lpstr>Detailed Metrics Breakdown</vt:lpstr>
      <vt:lpstr>Detailed Metrics Breakdown</vt:lpstr>
      <vt:lpstr>Unsupervised Learning</vt:lpstr>
      <vt:lpstr>Ethical Considerations</vt:lpstr>
      <vt:lpstr>Conclusions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Akram, Naveed</cp:lastModifiedBy>
  <cp:revision>343</cp:revision>
  <dcterms:created xsi:type="dcterms:W3CDTF">2013-01-27T09:14:16Z</dcterms:created>
  <dcterms:modified xsi:type="dcterms:W3CDTF">2025-12-13T19:59:53Z</dcterms:modified>
  <cp:category/>
</cp:coreProperties>
</file>